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0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3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8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6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3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7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8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6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1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5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93340-20D0-43E5-87DF-5606D70A22CB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95F38-7071-426A-8167-40C8410EF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6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3100" y="166465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4804" y="121913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4327" y="3453611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44643" y="145358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42298" y="3448935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3189" y="3446569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4932" y="124259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89" y="3427831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4291" y="133630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37928" y="3465336"/>
            <a:ext cx="4567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2" y="136478"/>
            <a:ext cx="11955439" cy="661916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4" idx="1"/>
            <a:endCxn id="4" idx="3"/>
          </p:cNvCxnSpPr>
          <p:nvPr/>
        </p:nvCxnSpPr>
        <p:spPr>
          <a:xfrm>
            <a:off x="109182" y="3446060"/>
            <a:ext cx="119554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368052" y="136478"/>
            <a:ext cx="28135" cy="6619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844751" y="136478"/>
            <a:ext cx="28135" cy="6619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321450" y="112544"/>
            <a:ext cx="28135" cy="6619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9798150" y="136478"/>
            <a:ext cx="28135" cy="6619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4572" y="154743"/>
            <a:ext cx="144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Raison </a:t>
            </a:r>
            <a:r>
              <a:rPr lang="en-US" b="1" u="sng" dirty="0" err="1"/>
              <a:t>d’Être</a:t>
            </a:r>
            <a:endParaRPr lang="en-US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239149" y="450159"/>
            <a:ext cx="2055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/>
              <a:t>Why are you in business?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69" y="858123"/>
            <a:ext cx="2644698" cy="260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Mission:  </a:t>
            </a:r>
            <a:r>
              <a:rPr lang="en-US" sz="1200" dirty="0"/>
              <a:t>Democratize premium </a:t>
            </a:r>
          </a:p>
          <a:p>
            <a:r>
              <a:rPr lang="en-US" sz="1200" dirty="0"/>
              <a:t>digital test-taking for local </a:t>
            </a:r>
          </a:p>
          <a:p>
            <a:r>
              <a:rPr lang="en-US" sz="1200" dirty="0"/>
              <a:t>coaching centers in Tier 2/3 India</a:t>
            </a:r>
          </a:p>
          <a:p>
            <a:r>
              <a:rPr lang="en-US" sz="1300" b="1" dirty="0"/>
              <a:t>Passions: </a:t>
            </a:r>
            <a:r>
              <a:rPr lang="en-US" sz="1200" dirty="0"/>
              <a:t>AI-powered exam tools </a:t>
            </a:r>
          </a:p>
          <a:p>
            <a:r>
              <a:rPr lang="en-US" sz="1200" dirty="0"/>
              <a:t>that eliminate teacher manual labor</a:t>
            </a:r>
            <a:endParaRPr lang="en-US" sz="1300" dirty="0"/>
          </a:p>
          <a:p>
            <a:r>
              <a:rPr lang="en-US" sz="1300" b="1" dirty="0"/>
              <a:t>Values: </a:t>
            </a:r>
            <a:r>
              <a:rPr lang="en-US" sz="1300" dirty="0"/>
              <a:t>Simplicity, affordability, </a:t>
            </a:r>
          </a:p>
          <a:p>
            <a:r>
              <a:rPr lang="en-US" sz="1300" dirty="0"/>
              <a:t>teacher empowerment.</a:t>
            </a:r>
          </a:p>
          <a:p>
            <a:r>
              <a:rPr lang="en-US" sz="1300" b="1" dirty="0"/>
              <a:t>Initial </a:t>
            </a:r>
            <a:r>
              <a:rPr lang="en-US" sz="1300" b="1" dirty="0" err="1"/>
              <a:t>Assets:</a:t>
            </a:r>
            <a:r>
              <a:rPr lang="en-US" sz="1200" dirty="0" err="1"/>
              <a:t>Live</a:t>
            </a:r>
            <a:r>
              <a:rPr lang="en-US" sz="1200" dirty="0"/>
              <a:t> MVP(testoza.com), </a:t>
            </a:r>
          </a:p>
          <a:p>
            <a:r>
              <a:rPr lang="en-US" sz="1200" dirty="0"/>
              <a:t>1000+ visitors, proctoring logic built</a:t>
            </a:r>
          </a:p>
          <a:p>
            <a:r>
              <a:rPr lang="en-US" sz="1300" b="1" dirty="0"/>
              <a:t>Initial Idea: </a:t>
            </a:r>
            <a:r>
              <a:rPr lang="en-US" sz="1200" dirty="0"/>
              <a:t>Upload a PDF-&gt; instant </a:t>
            </a:r>
          </a:p>
          <a:p>
            <a:r>
              <a:rPr lang="en-US" sz="1200" dirty="0"/>
              <a:t>live exam with math/chemistry </a:t>
            </a:r>
          </a:p>
          <a:p>
            <a:r>
              <a:rPr lang="en-US" sz="1200" dirty="0"/>
              <a:t>equations</a:t>
            </a:r>
          </a:p>
          <a:p>
            <a:endParaRPr 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532228" y="3458304"/>
            <a:ext cx="15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Initial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145" y="3753720"/>
            <a:ext cx="1914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Who is your customer?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25" y="4161684"/>
            <a:ext cx="2519279" cy="2816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Beachhead: </a:t>
            </a:r>
            <a:r>
              <a:rPr lang="en-US" sz="1200" dirty="0"/>
              <a:t>Small/medium </a:t>
            </a:r>
          </a:p>
          <a:p>
            <a:r>
              <a:rPr lang="en-US" sz="1200" dirty="0"/>
              <a:t>coaching centers, Tier 2/3 cities</a:t>
            </a:r>
          </a:p>
          <a:p>
            <a:r>
              <a:rPr lang="en-US" sz="1200" dirty="0"/>
              <a:t>(JEE/SSC/RRB…)</a:t>
            </a:r>
          </a:p>
          <a:p>
            <a:endParaRPr lang="en-US" sz="1300" dirty="0"/>
          </a:p>
          <a:p>
            <a:r>
              <a:rPr lang="en-US" sz="1300" b="1" dirty="0"/>
              <a:t>End User Profile: </a:t>
            </a:r>
            <a:r>
              <a:rPr lang="en-US" sz="1200" dirty="0"/>
              <a:t>Owner-teachers</a:t>
            </a:r>
          </a:p>
          <a:p>
            <a:r>
              <a:rPr lang="en-US" sz="1200" dirty="0"/>
              <a:t>running centers with 50–300 </a:t>
            </a:r>
          </a:p>
          <a:p>
            <a:r>
              <a:rPr lang="en-US" sz="1200" dirty="0"/>
              <a:t>Students.</a:t>
            </a:r>
            <a:endParaRPr lang="en-US" sz="1300" dirty="0"/>
          </a:p>
          <a:p>
            <a:r>
              <a:rPr lang="en-US" sz="1300" b="1" dirty="0"/>
              <a:t>TAM</a:t>
            </a:r>
            <a:r>
              <a:rPr lang="en-US" sz="1200" b="1" dirty="0"/>
              <a:t>: </a:t>
            </a:r>
            <a:r>
              <a:rPr lang="en-US" sz="1200" dirty="0"/>
              <a:t>₹50–75 Crore</a:t>
            </a:r>
          </a:p>
          <a:p>
            <a:endParaRPr lang="en-US" sz="1300" dirty="0"/>
          </a:p>
          <a:p>
            <a:r>
              <a:rPr lang="en-US" sz="1300" b="1" dirty="0"/>
              <a:t>Persona: </a:t>
            </a:r>
            <a:r>
              <a:rPr lang="en-US" sz="1200" dirty="0"/>
              <a:t>Ajay Kumar Gupta</a:t>
            </a:r>
          </a:p>
          <a:p>
            <a:endParaRPr lang="en-US" sz="1300" dirty="0"/>
          </a:p>
          <a:p>
            <a:r>
              <a:rPr lang="en-US" sz="1300" b="1" dirty="0"/>
              <a:t>1</a:t>
            </a:r>
            <a:r>
              <a:rPr lang="en-US" sz="1300" b="1" baseline="30000" dirty="0"/>
              <a:t>st</a:t>
            </a:r>
            <a:r>
              <a:rPr lang="en-US" sz="1300" b="1" dirty="0"/>
              <a:t> 10 Customers: </a:t>
            </a:r>
            <a:r>
              <a:rPr lang="en-US" sz="1200" dirty="0"/>
              <a:t>Sikar &amp; Patna </a:t>
            </a:r>
          </a:p>
          <a:p>
            <a:r>
              <a:rPr lang="en-US" sz="1200" dirty="0"/>
              <a:t>centers via founder personal network</a:t>
            </a:r>
          </a:p>
          <a:p>
            <a:endParaRPr lang="en-US"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2375094" y="152397"/>
            <a:ext cx="241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Competitive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6186" y="451390"/>
            <a:ext cx="2445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Why you?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6957" y="855777"/>
            <a:ext cx="2565254" cy="183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Moats: </a:t>
            </a:r>
            <a:r>
              <a:rPr lang="en-US" sz="1200" dirty="0"/>
              <a:t>PDF parser for Indian exam </a:t>
            </a:r>
          </a:p>
          <a:p>
            <a:r>
              <a:rPr lang="en-US" sz="1200" dirty="0"/>
              <a:t>math + community network effects</a:t>
            </a:r>
          </a:p>
          <a:p>
            <a:r>
              <a:rPr lang="en-US" sz="1300" b="1" dirty="0"/>
              <a:t>Core</a:t>
            </a:r>
            <a:r>
              <a:rPr lang="en-US" sz="1200" b="1" dirty="0"/>
              <a:t>: </a:t>
            </a:r>
            <a:r>
              <a:rPr lang="en-US" sz="1200" dirty="0"/>
              <a:t>Zero-typing math equation PDF </a:t>
            </a:r>
          </a:p>
          <a:p>
            <a:r>
              <a:rPr lang="en-US" sz="1200" dirty="0"/>
              <a:t>conversion</a:t>
            </a:r>
          </a:p>
          <a:p>
            <a:endParaRPr lang="en-US" sz="1300" dirty="0"/>
          </a:p>
          <a:p>
            <a:r>
              <a:rPr lang="en-US" sz="1300" dirty="0"/>
              <a:t>Competitive Positioning: </a:t>
            </a:r>
          </a:p>
          <a:p>
            <a:r>
              <a:rPr lang="en-US" sz="1200" dirty="0"/>
              <a:t>6–7x cheaper than </a:t>
            </a:r>
            <a:r>
              <a:rPr lang="en-US" sz="1200" dirty="0" err="1"/>
              <a:t>Classplus</a:t>
            </a:r>
            <a:r>
              <a:rPr lang="en-US" sz="1200" dirty="0"/>
              <a:t>; simpler </a:t>
            </a:r>
          </a:p>
          <a:p>
            <a:r>
              <a:rPr lang="en-US" sz="1200" dirty="0"/>
              <a:t>                         than Moodle for math</a:t>
            </a:r>
          </a:p>
          <a:p>
            <a:endParaRPr lang="en-US" sz="1300" dirty="0"/>
          </a:p>
        </p:txBody>
      </p:sp>
      <p:sp>
        <p:nvSpPr>
          <p:cNvPr id="21" name="TextBox 20"/>
          <p:cNvSpPr txBox="1"/>
          <p:nvPr/>
        </p:nvSpPr>
        <p:spPr>
          <a:xfrm>
            <a:off x="2783066" y="3458304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Value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643" y="3753720"/>
            <a:ext cx="2266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What can you do for you customer?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6963" y="4161684"/>
            <a:ext cx="2718758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Use Case: </a:t>
            </a:r>
            <a:r>
              <a:rPr lang="en-US" sz="1200" dirty="0"/>
              <a:t>Upload PDF → auto-parsed </a:t>
            </a:r>
          </a:p>
          <a:p>
            <a:r>
              <a:rPr lang="en-US" sz="1200" dirty="0"/>
              <a:t>exam → students take it → instant </a:t>
            </a:r>
          </a:p>
          <a:p>
            <a:r>
              <a:rPr lang="en-US" sz="1200" dirty="0"/>
              <a:t>results</a:t>
            </a:r>
            <a:endParaRPr lang="en-US" sz="1300" dirty="0"/>
          </a:p>
          <a:p>
            <a:r>
              <a:rPr lang="en-US" sz="1300" b="1" dirty="0"/>
              <a:t>Prod Description: </a:t>
            </a:r>
          </a:p>
          <a:p>
            <a:r>
              <a:rPr lang="en-US" sz="1200" dirty="0"/>
              <a:t>B2B SaaS: PDF-to-exam, math rendering,</a:t>
            </a:r>
          </a:p>
          <a:p>
            <a:r>
              <a:rPr lang="en-US" sz="1200" dirty="0"/>
              <a:t>proctoring, community</a:t>
            </a:r>
            <a:endParaRPr lang="en-US" sz="1300" dirty="0"/>
          </a:p>
          <a:p>
            <a:r>
              <a:rPr lang="en-US" sz="1300" b="1" dirty="0"/>
              <a:t>Problem Being Solved: </a:t>
            </a:r>
            <a:r>
              <a:rPr lang="en-US" sz="1200" dirty="0"/>
              <a:t>Manual test </a:t>
            </a:r>
          </a:p>
          <a:p>
            <a:r>
              <a:rPr lang="en-US" sz="1200" dirty="0"/>
              <a:t>typing + printing + grading </a:t>
            </a:r>
          </a:p>
          <a:p>
            <a:r>
              <a:rPr lang="en-US" sz="1200" dirty="0"/>
              <a:t>(4+ hours → 5 mins)</a:t>
            </a:r>
          </a:p>
          <a:p>
            <a:r>
              <a:rPr lang="en-US" sz="1300" b="1" dirty="0"/>
              <a:t>Quant. Value Prop.: </a:t>
            </a:r>
          </a:p>
          <a:p>
            <a:r>
              <a:rPr lang="en-US" sz="1200" dirty="0"/>
              <a:t>Saves ₹30,000+/year in printing/typist </a:t>
            </a:r>
          </a:p>
          <a:p>
            <a:r>
              <a:rPr lang="en-US" sz="1200" dirty="0"/>
              <a:t>costs; 80% time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2400" y="152399"/>
            <a:ext cx="2483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Customer 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4765" y="435498"/>
            <a:ext cx="2418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How does your customer acquire your product?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6939" y="897983"/>
            <a:ext cx="2661498" cy="2754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DMU: </a:t>
            </a:r>
            <a:r>
              <a:rPr lang="en-US" sz="1200" dirty="0"/>
              <a:t>Owner/Director is Decider</a:t>
            </a:r>
          </a:p>
          <a:p>
            <a:r>
              <a:rPr lang="en-US" sz="1200" dirty="0"/>
              <a:t>+Payer; young teachers are Influencers</a:t>
            </a:r>
          </a:p>
          <a:p>
            <a:endParaRPr lang="en-US" sz="1200" dirty="0"/>
          </a:p>
          <a:p>
            <a:r>
              <a:rPr lang="en-US" sz="1300" b="1" dirty="0"/>
              <a:t>Process to Acquire Customer: </a:t>
            </a:r>
            <a:r>
              <a:rPr lang="en-US" sz="1200" dirty="0"/>
              <a:t>Direct </a:t>
            </a:r>
          </a:p>
          <a:p>
            <a:r>
              <a:rPr lang="en-US" sz="1200" dirty="0"/>
              <a:t>visits to coaching hubs + WhatsApp</a:t>
            </a:r>
          </a:p>
          <a:p>
            <a:r>
              <a:rPr lang="en-US" sz="1200" dirty="0"/>
              <a:t>/Telegram groups</a:t>
            </a:r>
          </a:p>
          <a:p>
            <a:endParaRPr lang="en-US" sz="1200" dirty="0"/>
          </a:p>
          <a:p>
            <a:r>
              <a:rPr lang="en-US" sz="1300" b="1" dirty="0"/>
              <a:t>Windows of Opportunity: </a:t>
            </a:r>
            <a:r>
              <a:rPr lang="en-US" sz="1200" dirty="0"/>
              <a:t>April </a:t>
            </a:r>
          </a:p>
          <a:p>
            <a:r>
              <a:rPr lang="en-US" sz="1200" dirty="0"/>
              <a:t>(new session) or December </a:t>
            </a:r>
          </a:p>
          <a:p>
            <a:r>
              <a:rPr lang="en-US" sz="1200" dirty="0"/>
              <a:t>(crash course season)</a:t>
            </a:r>
            <a:endParaRPr lang="en-US" sz="1300" dirty="0"/>
          </a:p>
          <a:p>
            <a:r>
              <a:rPr lang="en-US" sz="1300" b="1" dirty="0"/>
              <a:t>Possible Triggers: </a:t>
            </a:r>
            <a:r>
              <a:rPr lang="en-US" sz="1200" dirty="0"/>
              <a:t>Broken printer, </a:t>
            </a:r>
          </a:p>
          <a:p>
            <a:r>
              <a:rPr lang="en-US" sz="1200" dirty="0"/>
              <a:t>student demand for digital tests, </a:t>
            </a:r>
          </a:p>
          <a:p>
            <a:r>
              <a:rPr lang="en-US" sz="1200" dirty="0"/>
              <a:t>NTA policy</a:t>
            </a:r>
            <a:endParaRPr lang="en-US" sz="1200" b="1" dirty="0"/>
          </a:p>
          <a:p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7358179" y="152397"/>
            <a:ext cx="2439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Overall 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9585" y="447815"/>
            <a:ext cx="2448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Does your product make money at a company level?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2856" y="912049"/>
            <a:ext cx="2528193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Est. R&amp;D Exp</a:t>
            </a:r>
            <a:r>
              <a:rPr lang="en-US" sz="1200" dirty="0"/>
              <a:t>.: ~₹6,000/month (GCP </a:t>
            </a:r>
          </a:p>
          <a:p>
            <a:r>
              <a:rPr lang="en-US" sz="1200" dirty="0"/>
              <a:t>hosting + Gemini API credits)</a:t>
            </a:r>
          </a:p>
          <a:p>
            <a:r>
              <a:rPr lang="en-US" sz="1300" b="1" dirty="0"/>
              <a:t>Est. G&amp;A Exp.:</a:t>
            </a:r>
            <a:r>
              <a:rPr lang="en-US" dirty="0"/>
              <a:t> </a:t>
            </a:r>
            <a:r>
              <a:rPr lang="en-US" sz="1200" dirty="0"/>
              <a:t>~₹5,000/month </a:t>
            </a:r>
          </a:p>
          <a:p>
            <a:r>
              <a:rPr lang="en-US" sz="1200" dirty="0"/>
              <a:t>(marketing + admin)</a:t>
            </a:r>
          </a:p>
          <a:p>
            <a:r>
              <a:rPr lang="en-US" sz="1300" b="1" dirty="0"/>
              <a:t>LTV/COCA Ratio High Enough: </a:t>
            </a:r>
          </a:p>
          <a:p>
            <a:r>
              <a:rPr lang="en-US" sz="1200" dirty="0"/>
              <a:t>&gt;3:1 (high margin SaaS, very low </a:t>
            </a:r>
          </a:p>
          <a:p>
            <a:r>
              <a:rPr lang="en-US" sz="1200" dirty="0"/>
              <a:t>acquisition cost)</a:t>
            </a:r>
            <a:endParaRPr lang="en-US" sz="1200" b="1" dirty="0"/>
          </a:p>
          <a:p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9835665" y="152397"/>
            <a:ext cx="221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Design &amp;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5664" y="433746"/>
            <a:ext cx="221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How do you produce the product?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839" y="855777"/>
            <a:ext cx="2756780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ID Key Assumptions: </a:t>
            </a:r>
            <a:r>
              <a:rPr lang="en-US" sz="1200" dirty="0"/>
              <a:t>Teachers </a:t>
            </a:r>
          </a:p>
          <a:p>
            <a:r>
              <a:rPr lang="en-US" sz="1200" dirty="0"/>
              <a:t>need math accuracy; students </a:t>
            </a:r>
          </a:p>
          <a:p>
            <a:r>
              <a:rPr lang="en-US" sz="1200" dirty="0"/>
              <a:t>have 4G access</a:t>
            </a:r>
          </a:p>
          <a:p>
            <a:endParaRPr lang="en-US" sz="1300" dirty="0"/>
          </a:p>
          <a:p>
            <a:r>
              <a:rPr lang="en-US" sz="1300" b="1" dirty="0"/>
              <a:t>Test Key Assumptions:</a:t>
            </a:r>
            <a:r>
              <a:rPr lang="en-US" dirty="0"/>
              <a:t> </a:t>
            </a:r>
            <a:r>
              <a:rPr lang="en-US" sz="1200" dirty="0"/>
              <a:t>50-PDF </a:t>
            </a:r>
          </a:p>
          <a:p>
            <a:r>
              <a:rPr lang="en-US" sz="1200" dirty="0"/>
              <a:t>parsing accuracy test + 10 student </a:t>
            </a:r>
          </a:p>
          <a:p>
            <a:r>
              <a:rPr lang="en-US" sz="1200" dirty="0"/>
              <a:t>pilot proctored tests</a:t>
            </a:r>
            <a:endParaRPr lang="en-US" sz="1300" dirty="0"/>
          </a:p>
          <a:p>
            <a:r>
              <a:rPr lang="en-US" sz="1300" b="1" dirty="0"/>
              <a:t>MVBP: </a:t>
            </a:r>
            <a:r>
              <a:rPr lang="en-US" sz="1200" dirty="0"/>
              <a:t>Teacher uploads PDF, </a:t>
            </a:r>
          </a:p>
          <a:p>
            <a:r>
              <a:rPr lang="en-US" sz="1200" dirty="0"/>
              <a:t>reviews, schedules, shares </a:t>
            </a:r>
          </a:p>
          <a:p>
            <a:r>
              <a:rPr lang="en-US" sz="1200" dirty="0"/>
              <a:t>WhatsApp link</a:t>
            </a:r>
            <a:endParaRPr lang="en-US" sz="1300" dirty="0"/>
          </a:p>
          <a:p>
            <a:r>
              <a:rPr lang="en-US" sz="1300" b="1" dirty="0"/>
              <a:t>Tracking Metrics:</a:t>
            </a:r>
            <a:r>
              <a:rPr lang="en-US" b="1" dirty="0"/>
              <a:t> </a:t>
            </a:r>
            <a:r>
              <a:rPr lang="en-US" sz="1200" dirty="0"/>
              <a:t>Monthly Active </a:t>
            </a:r>
          </a:p>
          <a:p>
            <a:r>
              <a:rPr lang="en-US" sz="1200" dirty="0"/>
              <a:t>Tutors, tests created/center, renewal rate</a:t>
            </a:r>
          </a:p>
          <a:p>
            <a:endParaRPr lang="en-US" sz="1300" dirty="0"/>
          </a:p>
        </p:txBody>
      </p:sp>
      <p:sp>
        <p:nvSpPr>
          <p:cNvPr id="33" name="TextBox 32"/>
          <p:cNvSpPr txBox="1"/>
          <p:nvPr/>
        </p:nvSpPr>
        <p:spPr>
          <a:xfrm>
            <a:off x="4794734" y="3458306"/>
            <a:ext cx="246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Product Unit Economics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2401" y="3722299"/>
            <a:ext cx="248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Can you make money at the product level?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2872" y="4203890"/>
            <a:ext cx="2362826" cy="2539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Biz Model: </a:t>
            </a:r>
            <a:r>
              <a:rPr lang="en-US" sz="1200" dirty="0"/>
              <a:t>B2B SaaS Annual </a:t>
            </a:r>
          </a:p>
          <a:p>
            <a:r>
              <a:rPr lang="en-US" sz="1200" dirty="0"/>
              <a:t>Subscription</a:t>
            </a:r>
            <a:endParaRPr lang="en-US" sz="1300" dirty="0"/>
          </a:p>
          <a:p>
            <a:endParaRPr lang="en-US" sz="1300" dirty="0"/>
          </a:p>
          <a:p>
            <a:r>
              <a:rPr lang="en-US" sz="1300" b="1" dirty="0"/>
              <a:t>Est. Pricing: </a:t>
            </a:r>
            <a:r>
              <a:rPr lang="en-US" sz="1200" dirty="0"/>
              <a:t>₹799/year (promo) </a:t>
            </a:r>
          </a:p>
          <a:p>
            <a:r>
              <a:rPr lang="en-US" sz="1200" dirty="0"/>
              <a:t>           → ₹2,999/year (standard)</a:t>
            </a:r>
            <a:r>
              <a:rPr lang="en-US" sz="1300" dirty="0"/>
              <a:t>.</a:t>
            </a:r>
          </a:p>
          <a:p>
            <a:r>
              <a:rPr lang="en-US" sz="1200" dirty="0"/>
              <a:t>Short Term - LTV:₹799 LTV </a:t>
            </a:r>
          </a:p>
          <a:p>
            <a:r>
              <a:rPr lang="en-US" sz="1200" dirty="0"/>
              <a:t>Short Term–COCA: ₹150 COCA</a:t>
            </a:r>
          </a:p>
          <a:p>
            <a:r>
              <a:rPr lang="en-US" sz="1200" dirty="0"/>
              <a:t>Medium Term - LTV:</a:t>
            </a:r>
            <a:r>
              <a:rPr lang="en-US" dirty="0"/>
              <a:t> </a:t>
            </a:r>
            <a:r>
              <a:rPr lang="en-US" sz="1200" dirty="0"/>
              <a:t>₹5,998 LTV</a:t>
            </a:r>
          </a:p>
          <a:p>
            <a:r>
              <a:rPr lang="en-US" sz="1200" dirty="0"/>
              <a:t>Medium Term – COCA:</a:t>
            </a:r>
            <a:r>
              <a:rPr lang="en-US" dirty="0"/>
              <a:t> </a:t>
            </a:r>
            <a:r>
              <a:rPr lang="en-US" sz="1200" dirty="0"/>
              <a:t>₹500 COCA</a:t>
            </a:r>
          </a:p>
          <a:p>
            <a:r>
              <a:rPr lang="en-US" sz="1200" dirty="0"/>
              <a:t>Long Term – LTV:</a:t>
            </a:r>
            <a:r>
              <a:rPr lang="en-US" dirty="0"/>
              <a:t> </a:t>
            </a:r>
            <a:r>
              <a:rPr lang="en-US" sz="1200" dirty="0"/>
              <a:t>₹11,996 LTV</a:t>
            </a:r>
          </a:p>
          <a:p>
            <a:r>
              <a:rPr lang="en-US" sz="1200" dirty="0"/>
              <a:t>Long Term – COCA:</a:t>
            </a:r>
            <a:r>
              <a:rPr lang="en-US" dirty="0"/>
              <a:t> </a:t>
            </a:r>
            <a:r>
              <a:rPr lang="en-US" sz="1200" dirty="0"/>
              <a:t> ₹300 COCA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6301" y="3458304"/>
            <a:ext cx="248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6302" y="3767162"/>
            <a:ext cx="2448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How do you sell your product?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8784" y="4161684"/>
            <a:ext cx="26576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Preferred Sales Channel:</a:t>
            </a:r>
            <a:r>
              <a:rPr lang="en-US" b="1" dirty="0"/>
              <a:t> </a:t>
            </a:r>
            <a:r>
              <a:rPr lang="en-US" sz="1200" dirty="0"/>
              <a:t>Direct </a:t>
            </a:r>
          </a:p>
          <a:p>
            <a:r>
              <a:rPr lang="en-US" sz="1200" dirty="0"/>
              <a:t>founder-to-center + WhatsApp groups</a:t>
            </a:r>
          </a:p>
          <a:p>
            <a:r>
              <a:rPr lang="en-US" sz="1300" b="1" dirty="0"/>
              <a:t>Sales Funnel:</a:t>
            </a:r>
            <a:r>
              <a:rPr lang="en-US" b="1" dirty="0"/>
              <a:t> </a:t>
            </a:r>
            <a:r>
              <a:rPr lang="en-US" sz="1200" dirty="0"/>
              <a:t>Free sign-up </a:t>
            </a:r>
          </a:p>
          <a:p>
            <a:r>
              <a:rPr lang="en-US" sz="1200" dirty="0"/>
              <a:t>→ 14-day trial → ₹2,999 annual plan</a:t>
            </a:r>
            <a:endParaRPr lang="en-US" sz="1300" dirty="0"/>
          </a:p>
          <a:p>
            <a:r>
              <a:rPr lang="en-US" sz="1300" b="1" dirty="0"/>
              <a:t>Short Term Mix</a:t>
            </a:r>
            <a:r>
              <a:rPr lang="en-US" sz="1200" b="1" dirty="0"/>
              <a:t>:</a:t>
            </a:r>
            <a:r>
              <a:rPr lang="en-US" sz="1200" dirty="0"/>
              <a:t>100% direct personal</a:t>
            </a:r>
          </a:p>
          <a:p>
            <a:r>
              <a:rPr lang="en-US" sz="1200" dirty="0"/>
              <a:t> founder sales</a:t>
            </a:r>
            <a:endParaRPr lang="en-US" sz="1300" dirty="0"/>
          </a:p>
          <a:p>
            <a:r>
              <a:rPr lang="en-US" sz="1300" b="1" dirty="0"/>
              <a:t>Medium Term Mix: </a:t>
            </a:r>
            <a:r>
              <a:rPr lang="en-US" sz="1200" dirty="0"/>
              <a:t>50% direct + 50% </a:t>
            </a:r>
          </a:p>
          <a:p>
            <a:r>
              <a:rPr lang="en-US" sz="1200" dirty="0"/>
              <a:t>channel partners/digital ads</a:t>
            </a:r>
            <a:endParaRPr lang="en-US" sz="1200" b="1" dirty="0"/>
          </a:p>
          <a:p>
            <a:endParaRPr lang="en-US" sz="1300" dirty="0"/>
          </a:p>
          <a:p>
            <a:r>
              <a:rPr lang="en-US" sz="1300" b="1" dirty="0"/>
              <a:t>Long Term Mix:</a:t>
            </a:r>
            <a:r>
              <a:rPr lang="en-US" b="1" dirty="0"/>
              <a:t> </a:t>
            </a:r>
            <a:r>
              <a:rPr lang="en-US" sz="1200" dirty="0"/>
              <a:t>80% self-serve </a:t>
            </a:r>
          </a:p>
          <a:p>
            <a:r>
              <a:rPr lang="en-US" sz="1200" dirty="0"/>
              <a:t>inbound, 20% partners</a:t>
            </a:r>
          </a:p>
          <a:p>
            <a:endParaRPr lang="en-US" sz="1300" dirty="0"/>
          </a:p>
        </p:txBody>
      </p:sp>
      <p:sp>
        <p:nvSpPr>
          <p:cNvPr id="39" name="TextBox 38"/>
          <p:cNvSpPr txBox="1"/>
          <p:nvPr/>
        </p:nvSpPr>
        <p:spPr>
          <a:xfrm>
            <a:off x="9835664" y="3458309"/>
            <a:ext cx="221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Scaling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840" y="3741403"/>
            <a:ext cx="2282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How do you scale your business?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8769" y="4161689"/>
            <a:ext cx="235134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Prod. Plan for Beachhead: </a:t>
            </a:r>
          </a:p>
          <a:p>
            <a:r>
              <a:rPr lang="en-US" sz="1200" dirty="0"/>
              <a:t>Optimize for all subjects + student </a:t>
            </a:r>
          </a:p>
          <a:p>
            <a:r>
              <a:rPr lang="en-US" sz="1200" dirty="0"/>
              <a:t>analytics dashboard</a:t>
            </a:r>
          </a:p>
          <a:p>
            <a:endParaRPr lang="en-US" sz="1300" dirty="0"/>
          </a:p>
          <a:p>
            <a:r>
              <a:rPr lang="en-US" sz="1300" b="1" dirty="0"/>
              <a:t>Next Market</a:t>
            </a:r>
            <a:r>
              <a:rPr lang="en-US" sz="1200" b="1" dirty="0"/>
              <a:t>: </a:t>
            </a:r>
            <a:r>
              <a:rPr lang="en-US" sz="1200" dirty="0"/>
              <a:t>Schools in Tier 2/3 </a:t>
            </a:r>
          </a:p>
          <a:p>
            <a:r>
              <a:rPr lang="en-US" sz="1200" dirty="0"/>
              <a:t>cities; YouTube educators</a:t>
            </a:r>
            <a:endParaRPr lang="en-US" sz="1200" b="1" dirty="0"/>
          </a:p>
          <a:p>
            <a:endParaRPr lang="en-US" sz="1300" dirty="0"/>
          </a:p>
          <a:p>
            <a:r>
              <a:rPr lang="en-US" sz="1300" b="1" dirty="0"/>
              <a:t>Prod. Plan beyond Beachhead:</a:t>
            </a:r>
            <a:r>
              <a:rPr lang="en-US" dirty="0"/>
              <a:t> </a:t>
            </a:r>
          </a:p>
          <a:p>
            <a:r>
              <a:rPr lang="en-US" sz="1200" dirty="0"/>
              <a:t>AI study mentor + flashcard </a:t>
            </a:r>
          </a:p>
          <a:p>
            <a:r>
              <a:rPr lang="en-US" sz="1200" dirty="0"/>
              <a:t>generator for students</a:t>
            </a:r>
            <a:endParaRPr lang="en-US" sz="1300" dirty="0"/>
          </a:p>
          <a:p>
            <a:r>
              <a:rPr lang="en-US" sz="1300" b="1" dirty="0"/>
              <a:t>Follow-on TAM: </a:t>
            </a:r>
          </a:p>
          <a:p>
            <a:r>
              <a:rPr lang="en-US" sz="1200" dirty="0"/>
              <a:t>₹1,360 Crore → ₹10,000+ Crore</a:t>
            </a:r>
          </a:p>
          <a:p>
            <a:endParaRPr lang="en-US" sz="1300" dirty="0"/>
          </a:p>
        </p:txBody>
      </p:sp>
      <p:sp>
        <p:nvSpPr>
          <p:cNvPr id="42" name="Down Arrow 41"/>
          <p:cNvSpPr/>
          <p:nvPr/>
        </p:nvSpPr>
        <p:spPr>
          <a:xfrm>
            <a:off x="943115" y="3362180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/>
          <p:cNvSpPr/>
          <p:nvPr/>
        </p:nvSpPr>
        <p:spPr>
          <a:xfrm rot="16200000">
            <a:off x="1995850" y="5062026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/>
          <p:cNvSpPr/>
          <p:nvPr/>
        </p:nvSpPr>
        <p:spPr>
          <a:xfrm flipV="1">
            <a:off x="3121262" y="3373902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 rot="16200000">
            <a:off x="4485824" y="1939000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own Arrow 45"/>
          <p:cNvSpPr/>
          <p:nvPr/>
        </p:nvSpPr>
        <p:spPr>
          <a:xfrm>
            <a:off x="5737857" y="3373902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own Arrow 46"/>
          <p:cNvSpPr/>
          <p:nvPr/>
        </p:nvSpPr>
        <p:spPr>
          <a:xfrm rot="16200000">
            <a:off x="9451732" y="1854589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10577143" y="3345765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own Arrow 48"/>
          <p:cNvSpPr/>
          <p:nvPr/>
        </p:nvSpPr>
        <p:spPr>
          <a:xfrm flipV="1">
            <a:off x="8185637" y="3373900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/>
          <p:cNvSpPr/>
          <p:nvPr/>
        </p:nvSpPr>
        <p:spPr>
          <a:xfrm rot="16200000">
            <a:off x="6947678" y="4316439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own Arrow 51"/>
          <p:cNvSpPr/>
          <p:nvPr/>
        </p:nvSpPr>
        <p:spPr>
          <a:xfrm rot="5400000">
            <a:off x="6915996" y="4896941"/>
            <a:ext cx="714386" cy="1542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3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671</Words>
  <Application>Microsoft Office PowerPoint</Application>
  <PresentationFormat>Widescreen</PresentationFormat>
  <Paragraphs>141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MIT Sloan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Sloan Technology Services</dc:creator>
  <cp:lastModifiedBy>Nirwair Chaudhary</cp:lastModifiedBy>
  <cp:revision>15</cp:revision>
  <dcterms:created xsi:type="dcterms:W3CDTF">2016-09-05T16:07:37Z</dcterms:created>
  <dcterms:modified xsi:type="dcterms:W3CDTF">2026-05-20T14:08:12Z</dcterms:modified>
</cp:coreProperties>
</file>